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3243D-2901-80F5-43C5-867CB92D1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859F0D-3E70-69B5-DF5E-125E41E05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427D9C-A7FB-3C1A-82A9-D3A3E603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A3385-F023-7E07-9BED-83011D45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5E3E7A-9347-4708-2E5A-EF76528B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7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B9944-0553-24F3-336E-7B8AAF10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D29BD-E454-42B5-3486-455962124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8ADF6-D60B-DC8F-3E77-D70106B8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371DC-16A0-16B6-CDB4-A3A6344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03741-9683-6D73-4B86-621FFC62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6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2404C-5811-9216-F6C2-3A7FDB3A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658419-952C-60D0-A30A-572CE7A7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3DC4AB-58FE-CCD2-720B-3E62ECE1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324F0-3A86-68D3-71CC-D662ED3B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AA151-0701-5EC4-E90E-216707B7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8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CADD5-1FFB-3F6B-8FB2-EF56BB0C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7C613-877F-5EB1-274A-DE12E827B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DE0C40-C243-03AF-1452-5AF2EA772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EDE6D-9EFE-3666-6ECA-CD4E5B0B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6231A7-5738-A35A-33DA-1AD82305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5D45EA-A21B-E60F-25BD-8D796343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4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7BE57-263A-DFE5-70B8-5774A3E7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F3E67E-259A-2EFB-0BD5-BA6642B2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275A0F-B136-1DCC-F1E0-55EB7FCE5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A90E62-D6CA-51B5-89C7-CEA493428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D2F3FD-BBE0-62ED-6ABA-2565708F7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298E79-537A-B239-7D08-1CF81D4F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F32F78-A7DC-2EE9-B901-94B054B9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89B83A-2A98-7245-A8AD-0F343F85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4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8382E-CD12-DE9C-7083-F4812C16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47EBCF-7BA3-D2FD-2C67-11C8373A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CB485F-7C15-0285-34ED-36188AB3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A3AD37-7A9F-4E42-EC87-3BFA7BE7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37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A127AC-453D-5F72-3656-66881743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9CA5E3-4B19-A2D5-F0BF-087C88D2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63F23-2B97-FEAA-DA1B-1DAA656C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08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4A11C-256A-264C-73EE-9082F7CD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BD8E8-A32C-2960-86C6-5807039F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F08E88-1596-21B6-DD79-F945D714F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183F3A-3F2E-9433-1D86-E6B975DD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B5F86-4546-9A34-53A4-D0A41B6D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5288-BB42-F4B1-47CF-1BA283E9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96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A7ED8-EA45-3BA2-CE70-8ABC14C9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27D814-8210-E901-C400-57918A44E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200019-95E4-ED73-950D-2AA62C10A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96B79-A78D-D918-59C8-9F9433E3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5BCDD1-18A8-E873-12C5-11E7027D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5DA0B-3BED-FCD6-5AB1-9460DF33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0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6B86D-D374-7502-2738-32A9D123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AA18E3-BCBF-D947-0B85-24C82BA9A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1B98B8-FC62-E11C-795F-99B86EAA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AB8F5-6213-87EC-C25F-1E556781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1E85B-4E32-ABCC-8C66-51DE858C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087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553944-19A5-E8E7-D7D4-A71CBC3D2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658217-445A-CFE5-DAB0-4427307BD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A94981-3C90-71C1-FF17-E2E4B97E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0E454-7632-AB91-CDF1-536D00D8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7A0F2-A067-1EB5-93C9-8C230E23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43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70756A-8812-8CC1-4215-D68F26F5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66337A-A204-D2BB-D630-1275366EB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F8025-FCE7-6117-7A73-1B935B9A2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58B4-E1C9-4E6B-AE62-F380AF994ED1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3F673-E6AA-345F-856B-4BAE1D8B8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AD8C9-E936-9811-6140-1CBEEFB69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AE0FA-9E45-499C-8989-38248C7F47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69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1-background">
            <a:extLst>
              <a:ext uri="{FF2B5EF4-FFF2-40B4-BE49-F238E27FC236}">
                <a16:creationId xmlns:a16="http://schemas.microsoft.com/office/drawing/2014/main" id="{0C52FEFB-72A9-C188-B72D-B3C82FDC2A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4B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lide-1-title">
            <a:extLst>
              <a:ext uri="{FF2B5EF4-FFF2-40B4-BE49-F238E27FC236}">
                <a16:creationId xmlns:a16="http://schemas.microsoft.com/office/drawing/2014/main" id="{5D43199B-D8F0-ACF9-A836-0296D400905E}"/>
              </a:ext>
            </a:extLst>
          </p:cNvPr>
          <p:cNvSpPr txBox="1"/>
          <p:nvPr/>
        </p:nvSpPr>
        <p:spPr>
          <a:xfrm>
            <a:off x="990600" y="1498600"/>
            <a:ext cx="101600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4300" b="1">
                <a:solidFill>
                  <a:srgbClr val="FFFFFF"/>
                </a:solidFill>
                <a:latin typeface="Aptos"/>
              </a:rPr>
              <a:t>Adaptive perturbation mapping identifies a context-dependent immune signaling circuit</a:t>
            </a:r>
            <a:endParaRPr lang="zh-CN" altLang="en-US" sz="4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slide-1-subtitle">
            <a:extLst>
              <a:ext uri="{FF2B5EF4-FFF2-40B4-BE49-F238E27FC236}">
                <a16:creationId xmlns:a16="http://schemas.microsoft.com/office/drawing/2014/main" id="{849312B5-71C3-A8B0-2F7B-98E6CB8C653D}"/>
              </a:ext>
            </a:extLst>
          </p:cNvPr>
          <p:cNvSpPr txBox="1"/>
          <p:nvPr/>
        </p:nvSpPr>
        <p:spPr>
          <a:xfrm>
            <a:off x="1016000" y="3632200"/>
            <a:ext cx="88900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2400">
                <a:solidFill>
                  <a:srgbClr val="FFFFFF"/>
                </a:solidFill>
                <a:latin typeface="Aptos"/>
              </a:rPr>
              <a:t>组会汇报 </a:t>
            </a:r>
            <a:r>
              <a:rPr lang="en-US" altLang="zh-CN" sz="2400">
                <a:solidFill>
                  <a:srgbClr val="FFFFFF"/>
                </a:solidFill>
                <a:latin typeface="Aptos"/>
              </a:rPr>
              <a:t>| </a:t>
            </a:r>
            <a:r>
              <a:rPr lang="zh-CN" altLang="en-US" sz="2400">
                <a:solidFill>
                  <a:srgbClr val="FFFFFF"/>
                </a:solidFill>
                <a:latin typeface="Aptos"/>
              </a:rPr>
              <a:t>可编辑演示文稿草稿</a:t>
            </a:r>
          </a:p>
        </p:txBody>
      </p:sp>
      <p:sp>
        <p:nvSpPr>
          <p:cNvPr id="5" name="slide-1-footer">
            <a:extLst>
              <a:ext uri="{FF2B5EF4-FFF2-40B4-BE49-F238E27FC236}">
                <a16:creationId xmlns:a16="http://schemas.microsoft.com/office/drawing/2014/main" id="{DE99945F-B682-7029-C5FA-28BFE4F7F01F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1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7612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07D856BF-2224-C37E-56D0-413D3BD8A488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一句话总结：这篇论文回答了什么问题？</a:t>
            </a:r>
          </a:p>
        </p:txBody>
      </p:sp>
      <p:sp>
        <p:nvSpPr>
          <p:cNvPr id="3" name="slide-2-title-accent">
            <a:extLst>
              <a:ext uri="{FF2B5EF4-FFF2-40B4-BE49-F238E27FC236}">
                <a16:creationId xmlns:a16="http://schemas.microsoft.com/office/drawing/2014/main" id="{04F8CD68-A28E-9E7F-5F25-8E7F8D69DB90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2-takeaway">
            <a:extLst>
              <a:ext uri="{FF2B5EF4-FFF2-40B4-BE49-F238E27FC236}">
                <a16:creationId xmlns:a16="http://schemas.microsoft.com/office/drawing/2014/main" id="{32BC1ABE-01A4-4DCA-BBCD-C05D9815BC56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Cell-state-specific responses to perturbation remain difficult to predict.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2-bullets">
            <a:extLst>
              <a:ext uri="{FF2B5EF4-FFF2-40B4-BE49-F238E27FC236}">
                <a16:creationId xmlns:a16="http://schemas.microsoft.com/office/drawing/2014/main" id="{75619A6A-E6F1-E08A-04DC-97C2AC433BA8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Cell-state-specific responses to perturbation remain difficult to predict.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We combined perturbation screening with single-cell sequencing to identify a signaling circuit that changes across inflammatory contexts.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The model improved prediction of response compared with a baseline classifier.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6" name="slide-2-evidence-card">
            <a:extLst>
              <a:ext uri="{FF2B5EF4-FFF2-40B4-BE49-F238E27FC236}">
                <a16:creationId xmlns:a16="http://schemas.microsoft.com/office/drawing/2014/main" id="{105928F5-5122-7663-C7F5-78EAF47253F4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2-evidence-label">
            <a:extLst>
              <a:ext uri="{FF2B5EF4-FFF2-40B4-BE49-F238E27FC236}">
                <a16:creationId xmlns:a16="http://schemas.microsoft.com/office/drawing/2014/main" id="{F144B4CB-C01C-6015-CE24-716945C08653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2-evidence-value">
            <a:extLst>
              <a:ext uri="{FF2B5EF4-FFF2-40B4-BE49-F238E27FC236}">
                <a16:creationId xmlns:a16="http://schemas.microsoft.com/office/drawing/2014/main" id="{4CAF1686-7E43-619F-2D78-41CA57497444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2-source">
            <a:extLst>
              <a:ext uri="{FF2B5EF4-FFF2-40B4-BE49-F238E27FC236}">
                <a16:creationId xmlns:a16="http://schemas.microsoft.com/office/drawing/2014/main" id="{637CD1B4-1E34-6ABE-AA2D-77C238633609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2-footer">
            <a:extLst>
              <a:ext uri="{FF2B5EF4-FFF2-40B4-BE49-F238E27FC236}">
                <a16:creationId xmlns:a16="http://schemas.microsoft.com/office/drawing/2014/main" id="{2C1FE2E1-F504-210A-9D6C-BECE234A4354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2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9295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title">
            <a:extLst>
              <a:ext uri="{FF2B5EF4-FFF2-40B4-BE49-F238E27FC236}">
                <a16:creationId xmlns:a16="http://schemas.microsoft.com/office/drawing/2014/main" id="{9D25ECD7-E4EB-BD8A-DE55-77ACF1D32EAB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研究背景与知识缺口</a:t>
            </a:r>
          </a:p>
        </p:txBody>
      </p:sp>
      <p:sp>
        <p:nvSpPr>
          <p:cNvPr id="3" name="slide-3-title-accent">
            <a:extLst>
              <a:ext uri="{FF2B5EF4-FFF2-40B4-BE49-F238E27FC236}">
                <a16:creationId xmlns:a16="http://schemas.microsoft.com/office/drawing/2014/main" id="{D902596C-8F90-7F0E-2F4D-D525209AA914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3-takeaway">
            <a:extLst>
              <a:ext uri="{FF2B5EF4-FFF2-40B4-BE49-F238E27FC236}">
                <a16:creationId xmlns:a16="http://schemas.microsoft.com/office/drawing/2014/main" id="{35324D6D-0880-3BB2-07BF-78E6F5908221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Immune signaling is shaped by the microenvironment, but most screening studies average away cell-state differences.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3-bullets">
            <a:extLst>
              <a:ext uri="{FF2B5EF4-FFF2-40B4-BE49-F238E27FC236}">
                <a16:creationId xmlns:a16="http://schemas.microsoft.com/office/drawing/2014/main" id="{ECF41087-1E0F-A7D5-D227-234200F8A270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Immune signaling is shaped by the microenvironment, but most screening studies average away cell-state differences.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We asked whether a context-aware model could reveal interpretable regulatory relationships.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6" name="slide-3-evidence-card">
            <a:extLst>
              <a:ext uri="{FF2B5EF4-FFF2-40B4-BE49-F238E27FC236}">
                <a16:creationId xmlns:a16="http://schemas.microsoft.com/office/drawing/2014/main" id="{12FE422B-01CA-FA05-CC93-721498A2C43D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3-evidence-label">
            <a:extLst>
              <a:ext uri="{FF2B5EF4-FFF2-40B4-BE49-F238E27FC236}">
                <a16:creationId xmlns:a16="http://schemas.microsoft.com/office/drawing/2014/main" id="{C12F4EC5-80AB-F647-EE27-98A66A3C0B50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3-evidence-value">
            <a:extLst>
              <a:ext uri="{FF2B5EF4-FFF2-40B4-BE49-F238E27FC236}">
                <a16:creationId xmlns:a16="http://schemas.microsoft.com/office/drawing/2014/main" id="{0702E2E6-E0F7-BC0D-F69E-5EA4C4FF50CE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3-source">
            <a:extLst>
              <a:ext uri="{FF2B5EF4-FFF2-40B4-BE49-F238E27FC236}">
                <a16:creationId xmlns:a16="http://schemas.microsoft.com/office/drawing/2014/main" id="{CAA85173-8748-EDBA-3016-0D28430B1F75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3-footer">
            <a:extLst>
              <a:ext uri="{FF2B5EF4-FFF2-40B4-BE49-F238E27FC236}">
                <a16:creationId xmlns:a16="http://schemas.microsoft.com/office/drawing/2014/main" id="{C9B3287A-BF3E-88B3-B1F6-CC11CE7F9B59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3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625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4-title">
            <a:extLst>
              <a:ext uri="{FF2B5EF4-FFF2-40B4-BE49-F238E27FC236}">
                <a16:creationId xmlns:a16="http://schemas.microsoft.com/office/drawing/2014/main" id="{605E0E3D-35A1-AB24-2A99-F0730277C8E0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创新点与学术贡献</a:t>
            </a:r>
          </a:p>
        </p:txBody>
      </p:sp>
      <p:sp>
        <p:nvSpPr>
          <p:cNvPr id="3" name="slide-4-title-accent">
            <a:extLst>
              <a:ext uri="{FF2B5EF4-FFF2-40B4-BE49-F238E27FC236}">
                <a16:creationId xmlns:a16="http://schemas.microsoft.com/office/drawing/2014/main" id="{83B1E973-5C19-B1FB-B815-F90635B44A6A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4-takeaway">
            <a:extLst>
              <a:ext uri="{FF2B5EF4-FFF2-40B4-BE49-F238E27FC236}">
                <a16:creationId xmlns:a16="http://schemas.microsoft.com/office/drawing/2014/main" id="{2B585135-9585-8D87-5AC6-711117AC3434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We combined perturbation screening with single-cell sequencing to identify a signaling circuit that changes across inflammatory contexts.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4-bullets">
            <a:extLst>
              <a:ext uri="{FF2B5EF4-FFF2-40B4-BE49-F238E27FC236}">
                <a16:creationId xmlns:a16="http://schemas.microsoft.com/office/drawing/2014/main" id="{F90B4BD4-000C-E55D-8E41-6F30E239473E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We combined perturbation screening with single-cell sequencing to identify a signaling circuit that changes across inflammatory contexts.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6" name="slide-4-evidence-card">
            <a:extLst>
              <a:ext uri="{FF2B5EF4-FFF2-40B4-BE49-F238E27FC236}">
                <a16:creationId xmlns:a16="http://schemas.microsoft.com/office/drawing/2014/main" id="{932AFE8D-A2FA-D033-8D00-A894DDFBA045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4-evidence-label">
            <a:extLst>
              <a:ext uri="{FF2B5EF4-FFF2-40B4-BE49-F238E27FC236}">
                <a16:creationId xmlns:a16="http://schemas.microsoft.com/office/drawing/2014/main" id="{66B2C9EF-4D2E-7BB4-BC96-15B32F1BD61F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4-evidence-value">
            <a:extLst>
              <a:ext uri="{FF2B5EF4-FFF2-40B4-BE49-F238E27FC236}">
                <a16:creationId xmlns:a16="http://schemas.microsoft.com/office/drawing/2014/main" id="{D3C989ED-6EED-6732-4AF0-C17D31FA7919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4-source">
            <a:extLst>
              <a:ext uri="{FF2B5EF4-FFF2-40B4-BE49-F238E27FC236}">
                <a16:creationId xmlns:a16="http://schemas.microsoft.com/office/drawing/2014/main" id="{FABB5E29-CE81-6FCF-3778-EF7FC2A1ED75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4-footer">
            <a:extLst>
              <a:ext uri="{FF2B5EF4-FFF2-40B4-BE49-F238E27FC236}">
                <a16:creationId xmlns:a16="http://schemas.microsoft.com/office/drawing/2014/main" id="{18E6944A-5E9B-A3EF-BD3F-869234DF20FC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4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1127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5-title">
            <a:extLst>
              <a:ext uri="{FF2B5EF4-FFF2-40B4-BE49-F238E27FC236}">
                <a16:creationId xmlns:a16="http://schemas.microsoft.com/office/drawing/2014/main" id="{43EB7F43-2A2C-FBA4-8DB4-167F8DF105C9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研究方法与实验设计</a:t>
            </a:r>
          </a:p>
        </p:txBody>
      </p:sp>
      <p:sp>
        <p:nvSpPr>
          <p:cNvPr id="3" name="slide-5-title-accent">
            <a:extLst>
              <a:ext uri="{FF2B5EF4-FFF2-40B4-BE49-F238E27FC236}">
                <a16:creationId xmlns:a16="http://schemas.microsoft.com/office/drawing/2014/main" id="{4E35A638-C95D-3FDB-E05B-7DE14AB231C3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5-takeaway">
            <a:extLst>
              <a:ext uri="{FF2B5EF4-FFF2-40B4-BE49-F238E27FC236}">
                <a16:creationId xmlns:a16="http://schemas.microsoft.com/office/drawing/2014/main" id="{07045865-E608-AAC5-6F79-5136E27B273D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We profiled three donor-derived cultures under control and inflammatory conditions.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5-bullets">
            <a:extLst>
              <a:ext uri="{FF2B5EF4-FFF2-40B4-BE49-F238E27FC236}">
                <a16:creationId xmlns:a16="http://schemas.microsoft.com/office/drawing/2014/main" id="{7BA4E1E0-681B-5787-8446-BC441C876A8B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We profiled three donor-derived cultures under control and inflammatory conditions.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Guide abundance, viability, and transcriptional state were measured at 24 and 72 hours.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Statistical comparisons used donor-aware mixed models.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6" name="slide-5-evidence-card">
            <a:extLst>
              <a:ext uri="{FF2B5EF4-FFF2-40B4-BE49-F238E27FC236}">
                <a16:creationId xmlns:a16="http://schemas.microsoft.com/office/drawing/2014/main" id="{09BC4ADB-2E02-31C5-4A64-DB0EFCEF5B5C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5-evidence-label">
            <a:extLst>
              <a:ext uri="{FF2B5EF4-FFF2-40B4-BE49-F238E27FC236}">
                <a16:creationId xmlns:a16="http://schemas.microsoft.com/office/drawing/2014/main" id="{E58157CF-2702-42BB-1B00-708ADBF392C8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5-evidence-value">
            <a:extLst>
              <a:ext uri="{FF2B5EF4-FFF2-40B4-BE49-F238E27FC236}">
                <a16:creationId xmlns:a16="http://schemas.microsoft.com/office/drawing/2014/main" id="{4D2703A5-1290-2270-67E1-C2EAEF954B30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5-source">
            <a:extLst>
              <a:ext uri="{FF2B5EF4-FFF2-40B4-BE49-F238E27FC236}">
                <a16:creationId xmlns:a16="http://schemas.microsoft.com/office/drawing/2014/main" id="{0FB9DA11-D847-3612-359B-EF9FFCB7B866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5-footer">
            <a:extLst>
              <a:ext uri="{FF2B5EF4-FFF2-40B4-BE49-F238E27FC236}">
                <a16:creationId xmlns:a16="http://schemas.microsoft.com/office/drawing/2014/main" id="{9DECCE06-F732-373D-5835-4F6B21897CEB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5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034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6-title">
            <a:extLst>
              <a:ext uri="{FF2B5EF4-FFF2-40B4-BE49-F238E27FC236}">
                <a16:creationId xmlns:a16="http://schemas.microsoft.com/office/drawing/2014/main" id="{2F87F52C-5C6D-D742-C2C3-1D2C89D122E0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实验数据 </a:t>
            </a:r>
            <a:r>
              <a:rPr lang="en-US" altLang="zh-CN" sz="3600" b="1">
                <a:solidFill>
                  <a:srgbClr val="114B5F"/>
                </a:solidFill>
                <a:latin typeface="Aptos"/>
              </a:rPr>
              <a:t>1</a:t>
            </a:r>
            <a:endParaRPr lang="zh-CN" altLang="en-US" sz="36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3" name="slide-6-title-accent">
            <a:extLst>
              <a:ext uri="{FF2B5EF4-FFF2-40B4-BE49-F238E27FC236}">
                <a16:creationId xmlns:a16="http://schemas.microsoft.com/office/drawing/2014/main" id="{BB9029F2-A583-BF17-FC1D-E0559EE56FC5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6-takeaway">
            <a:extLst>
              <a:ext uri="{FF2B5EF4-FFF2-40B4-BE49-F238E27FC236}">
                <a16:creationId xmlns:a16="http://schemas.microsoft.com/office/drawing/2014/main" id="{16FB065D-9260-E12A-959F-0CB29F36C688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The context-aware model significantly improved response prediction relative to the baseline model (Fig. 1b).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6-bullets">
            <a:extLst>
              <a:ext uri="{FF2B5EF4-FFF2-40B4-BE49-F238E27FC236}">
                <a16:creationId xmlns:a16="http://schemas.microsoft.com/office/drawing/2014/main" id="{9BB33D20-320C-9242-0731-1B2EC781AF3F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汇报前请结合原始图注核对统计学描述和因果措辞。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将引用的论文图作为原子图像插入，图中文字、箭头和标注应保持可编辑。</a:t>
            </a:r>
          </a:p>
        </p:txBody>
      </p:sp>
      <p:sp>
        <p:nvSpPr>
          <p:cNvPr id="6" name="slide-6-evidence-card">
            <a:extLst>
              <a:ext uri="{FF2B5EF4-FFF2-40B4-BE49-F238E27FC236}">
                <a16:creationId xmlns:a16="http://schemas.microsoft.com/office/drawing/2014/main" id="{8C71C22B-7A26-667F-9A76-9A1FD4583014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6-evidence-label">
            <a:extLst>
              <a:ext uri="{FF2B5EF4-FFF2-40B4-BE49-F238E27FC236}">
                <a16:creationId xmlns:a16="http://schemas.microsoft.com/office/drawing/2014/main" id="{C2708E53-2381-AF5A-3B63-83CF4F483753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6-evidence-value">
            <a:extLst>
              <a:ext uri="{FF2B5EF4-FFF2-40B4-BE49-F238E27FC236}">
                <a16:creationId xmlns:a16="http://schemas.microsoft.com/office/drawing/2014/main" id="{7D04BD0B-7206-DBEB-CEE5-35600733B095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原子化论文图</a:t>
            </a:r>
            <a:r>
              <a:rPr lang="en-US" altLang="zh-CN" sz="1600">
                <a:solidFill>
                  <a:srgbClr val="114B5F"/>
                </a:solidFill>
                <a:latin typeface="Aptos"/>
              </a:rPr>
              <a:t>: fig-1b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9" name="slide-6-source">
            <a:extLst>
              <a:ext uri="{FF2B5EF4-FFF2-40B4-BE49-F238E27FC236}">
                <a16:creationId xmlns:a16="http://schemas.microsoft.com/office/drawing/2014/main" id="{51760953-5778-EA82-1111-9C2ED70D4DFC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claim-01</a:t>
            </a:r>
            <a:endParaRPr lang="zh-CN" altLang="en-US" sz="12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10" name="slide-6-footer">
            <a:extLst>
              <a:ext uri="{FF2B5EF4-FFF2-40B4-BE49-F238E27FC236}">
                <a16:creationId xmlns:a16="http://schemas.microsoft.com/office/drawing/2014/main" id="{EE91B9E7-8670-2385-41AF-F9454B2907A5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6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0645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7-title">
            <a:extLst>
              <a:ext uri="{FF2B5EF4-FFF2-40B4-BE49-F238E27FC236}">
                <a16:creationId xmlns:a16="http://schemas.microsoft.com/office/drawing/2014/main" id="{D30C4EF8-C047-8911-8FB6-E20F6668072A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实验数据 </a:t>
            </a:r>
            <a:r>
              <a:rPr lang="en-US" altLang="zh-CN" sz="3600" b="1">
                <a:solidFill>
                  <a:srgbClr val="114B5F"/>
                </a:solidFill>
                <a:latin typeface="Aptos"/>
              </a:rPr>
              <a:t>2</a:t>
            </a:r>
            <a:endParaRPr lang="zh-CN" altLang="en-US" sz="36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3" name="slide-7-title-accent">
            <a:extLst>
              <a:ext uri="{FF2B5EF4-FFF2-40B4-BE49-F238E27FC236}">
                <a16:creationId xmlns:a16="http://schemas.microsoft.com/office/drawing/2014/main" id="{99A0A62F-9365-222D-F491-9FA1946FB01F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7-takeaway">
            <a:extLst>
              <a:ext uri="{FF2B5EF4-FFF2-40B4-BE49-F238E27FC236}">
                <a16:creationId xmlns:a16="http://schemas.microsoft.com/office/drawing/2014/main" id="{EB31A554-1676-2505-69BA-B1680090485B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Perturbation of regulator X increased pathway activation only in inflammatory cultures (Fig. 2a).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7-bullets">
            <a:extLst>
              <a:ext uri="{FF2B5EF4-FFF2-40B4-BE49-F238E27FC236}">
                <a16:creationId xmlns:a16="http://schemas.microsoft.com/office/drawing/2014/main" id="{E40B17F3-72C0-E830-4483-5D0C6C17E9BD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汇报前请结合原始图注核对统计学描述和因果措辞。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将引用的论文图作为原子图像插入，图中文字、箭头和标注应保持可编辑。</a:t>
            </a:r>
          </a:p>
        </p:txBody>
      </p:sp>
      <p:sp>
        <p:nvSpPr>
          <p:cNvPr id="6" name="slide-7-evidence-card">
            <a:extLst>
              <a:ext uri="{FF2B5EF4-FFF2-40B4-BE49-F238E27FC236}">
                <a16:creationId xmlns:a16="http://schemas.microsoft.com/office/drawing/2014/main" id="{7DEC48CD-BA51-D396-FD51-BFF3529172CB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7-evidence-label">
            <a:extLst>
              <a:ext uri="{FF2B5EF4-FFF2-40B4-BE49-F238E27FC236}">
                <a16:creationId xmlns:a16="http://schemas.microsoft.com/office/drawing/2014/main" id="{06533BD6-330E-DAF0-8A7F-4034C96DB06D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7-evidence-value">
            <a:extLst>
              <a:ext uri="{FF2B5EF4-FFF2-40B4-BE49-F238E27FC236}">
                <a16:creationId xmlns:a16="http://schemas.microsoft.com/office/drawing/2014/main" id="{73FA2BBB-D7CD-C969-E1A8-4393ADA1AF51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原子化论文图</a:t>
            </a:r>
            <a:r>
              <a:rPr lang="en-US" altLang="zh-CN" sz="1600">
                <a:solidFill>
                  <a:srgbClr val="114B5F"/>
                </a:solidFill>
                <a:latin typeface="Aptos"/>
              </a:rPr>
              <a:t>: fig-2a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9" name="slide-7-source">
            <a:extLst>
              <a:ext uri="{FF2B5EF4-FFF2-40B4-BE49-F238E27FC236}">
                <a16:creationId xmlns:a16="http://schemas.microsoft.com/office/drawing/2014/main" id="{8BABEB2A-BDFE-474F-34FF-9E3832DD6031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claim-02</a:t>
            </a:r>
            <a:endParaRPr lang="zh-CN" altLang="en-US" sz="12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10" name="slide-7-footer">
            <a:extLst>
              <a:ext uri="{FF2B5EF4-FFF2-40B4-BE49-F238E27FC236}">
                <a16:creationId xmlns:a16="http://schemas.microsoft.com/office/drawing/2014/main" id="{F194D5FE-B84F-17B6-E9CD-4694A9485485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7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1988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8-title">
            <a:extLst>
              <a:ext uri="{FF2B5EF4-FFF2-40B4-BE49-F238E27FC236}">
                <a16:creationId xmlns:a16="http://schemas.microsoft.com/office/drawing/2014/main" id="{682897B5-81DD-2547-7438-7E2D499CE387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实验数据 </a:t>
            </a:r>
            <a:r>
              <a:rPr lang="en-US" altLang="zh-CN" sz="3600" b="1">
                <a:solidFill>
                  <a:srgbClr val="114B5F"/>
                </a:solidFill>
                <a:latin typeface="Aptos"/>
              </a:rPr>
              <a:t>3</a:t>
            </a:r>
            <a:endParaRPr lang="zh-CN" altLang="en-US" sz="36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3" name="slide-8-title-accent">
            <a:extLst>
              <a:ext uri="{FF2B5EF4-FFF2-40B4-BE49-F238E27FC236}">
                <a16:creationId xmlns:a16="http://schemas.microsoft.com/office/drawing/2014/main" id="{241E47E7-2326-52AA-D43C-7B0966B57824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8-takeaway">
            <a:extLst>
              <a:ext uri="{FF2B5EF4-FFF2-40B4-BE49-F238E27FC236}">
                <a16:creationId xmlns:a16="http://schemas.microsoft.com/office/drawing/2014/main" id="{240D16F1-7157-DE72-E7A2-25978E493C27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Inhibition of mediator Y reduced the phenotype and supported a context-dependent mechanism (Fig. 3c).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8-bullets">
            <a:extLst>
              <a:ext uri="{FF2B5EF4-FFF2-40B4-BE49-F238E27FC236}">
                <a16:creationId xmlns:a16="http://schemas.microsoft.com/office/drawing/2014/main" id="{B20CE4E2-6C26-C985-CEAC-34FDCEB7F4A5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汇报前请结合原始图注核对统计学描述和因果措辞。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将引用的论文图作为原子图像插入，图中文字、箭头和标注应保持可编辑。</a:t>
            </a:r>
          </a:p>
        </p:txBody>
      </p:sp>
      <p:sp>
        <p:nvSpPr>
          <p:cNvPr id="6" name="slide-8-evidence-card">
            <a:extLst>
              <a:ext uri="{FF2B5EF4-FFF2-40B4-BE49-F238E27FC236}">
                <a16:creationId xmlns:a16="http://schemas.microsoft.com/office/drawing/2014/main" id="{179ADA87-AFE9-CF76-1775-C6735516743B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8-evidence-label">
            <a:extLst>
              <a:ext uri="{FF2B5EF4-FFF2-40B4-BE49-F238E27FC236}">
                <a16:creationId xmlns:a16="http://schemas.microsoft.com/office/drawing/2014/main" id="{A13EFDBD-7A4E-8A95-31BA-577DF9916CF7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8-evidence-value">
            <a:extLst>
              <a:ext uri="{FF2B5EF4-FFF2-40B4-BE49-F238E27FC236}">
                <a16:creationId xmlns:a16="http://schemas.microsoft.com/office/drawing/2014/main" id="{B1585D09-FBD1-59D0-3E67-89F90B15856E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原子化论文图</a:t>
            </a:r>
            <a:r>
              <a:rPr lang="en-US" altLang="zh-CN" sz="1600">
                <a:solidFill>
                  <a:srgbClr val="114B5F"/>
                </a:solidFill>
                <a:latin typeface="Aptos"/>
              </a:rPr>
              <a:t>: fig-3c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9" name="slide-8-source">
            <a:extLst>
              <a:ext uri="{FF2B5EF4-FFF2-40B4-BE49-F238E27FC236}">
                <a16:creationId xmlns:a16="http://schemas.microsoft.com/office/drawing/2014/main" id="{E452ED89-6768-E4AA-79E3-3691B3F1C3AB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claim-03</a:t>
            </a:r>
            <a:endParaRPr lang="zh-CN" altLang="en-US" sz="12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10" name="slide-8-footer">
            <a:extLst>
              <a:ext uri="{FF2B5EF4-FFF2-40B4-BE49-F238E27FC236}">
                <a16:creationId xmlns:a16="http://schemas.microsoft.com/office/drawing/2014/main" id="{C69445E1-18AA-C83F-E601-60CA4284F40F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8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4077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9-title">
            <a:extLst>
              <a:ext uri="{FF2B5EF4-FFF2-40B4-BE49-F238E27FC236}">
                <a16:creationId xmlns:a16="http://schemas.microsoft.com/office/drawing/2014/main" id="{280B3E3C-719C-872D-B1A6-537A95D8A0ED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局限性与批判性评价</a:t>
            </a:r>
          </a:p>
        </p:txBody>
      </p:sp>
      <p:sp>
        <p:nvSpPr>
          <p:cNvPr id="3" name="slide-9-title-accent">
            <a:extLst>
              <a:ext uri="{FF2B5EF4-FFF2-40B4-BE49-F238E27FC236}">
                <a16:creationId xmlns:a16="http://schemas.microsoft.com/office/drawing/2014/main" id="{52B2DFBC-5DFB-CD6D-BB4A-D93904773625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9-takeaway">
            <a:extLst>
              <a:ext uri="{FF2B5EF4-FFF2-40B4-BE49-F238E27FC236}">
                <a16:creationId xmlns:a16="http://schemas.microsoft.com/office/drawing/2014/main" id="{5F8E127A-920D-0658-C74F-E6BD83227813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The limited donor number and in-vitro model constrain generalization.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9-bullets">
            <a:extLst>
              <a:ext uri="{FF2B5EF4-FFF2-40B4-BE49-F238E27FC236}">
                <a16:creationId xmlns:a16="http://schemas.microsoft.com/office/drawing/2014/main" id="{85896B3C-2AFE-AF4E-0CF5-9F7A1E785A8E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The limited donor number and in-vitro model constrain generalization.</a:t>
            </a:r>
            <a:endParaRPr lang="zh-CN" altLang="en-US" sz="16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6" name="slide-9-evidence-card">
            <a:extLst>
              <a:ext uri="{FF2B5EF4-FFF2-40B4-BE49-F238E27FC236}">
                <a16:creationId xmlns:a16="http://schemas.microsoft.com/office/drawing/2014/main" id="{3E3524CF-15C3-20CB-5FF8-ABB098FA26BF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9-evidence-label">
            <a:extLst>
              <a:ext uri="{FF2B5EF4-FFF2-40B4-BE49-F238E27FC236}">
                <a16:creationId xmlns:a16="http://schemas.microsoft.com/office/drawing/2014/main" id="{38B8B64D-D61C-126F-970F-8853D90B6B02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9-evidence-value">
            <a:extLst>
              <a:ext uri="{FF2B5EF4-FFF2-40B4-BE49-F238E27FC236}">
                <a16:creationId xmlns:a16="http://schemas.microsoft.com/office/drawing/2014/main" id="{EEDF3283-FD91-72F3-A0A0-97F6E3EEB43C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9-source">
            <a:extLst>
              <a:ext uri="{FF2B5EF4-FFF2-40B4-BE49-F238E27FC236}">
                <a16:creationId xmlns:a16="http://schemas.microsoft.com/office/drawing/2014/main" id="{743FB649-0CC1-CC52-A51C-C1214C7060A6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9-footer">
            <a:extLst>
              <a:ext uri="{FF2B5EF4-FFF2-40B4-BE49-F238E27FC236}">
                <a16:creationId xmlns:a16="http://schemas.microsoft.com/office/drawing/2014/main" id="{0A6DB184-E8AE-88F5-F2C6-E2F43B05B431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9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0948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10-title">
            <a:extLst>
              <a:ext uri="{FF2B5EF4-FFF2-40B4-BE49-F238E27FC236}">
                <a16:creationId xmlns:a16="http://schemas.microsoft.com/office/drawing/2014/main" id="{D71D9969-D6DF-62FA-06A6-85866C11C4E6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未来研究方向</a:t>
            </a:r>
          </a:p>
        </p:txBody>
      </p:sp>
      <p:sp>
        <p:nvSpPr>
          <p:cNvPr id="3" name="slide-10-title-accent">
            <a:extLst>
              <a:ext uri="{FF2B5EF4-FFF2-40B4-BE49-F238E27FC236}">
                <a16:creationId xmlns:a16="http://schemas.microsoft.com/office/drawing/2014/main" id="{38B5403D-8173-8B34-3D3C-08172B83B9DD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10-takeaway">
            <a:extLst>
              <a:ext uri="{FF2B5EF4-FFF2-40B4-BE49-F238E27FC236}">
                <a16:creationId xmlns:a16="http://schemas.microsoft.com/office/drawing/2014/main" id="{58A0CF7C-A0DB-50DF-F72B-51AC7A14E7C1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2400" b="1">
                <a:solidFill>
                  <a:srgbClr val="114B5F"/>
                </a:solidFill>
                <a:latin typeface="Aptos"/>
              </a:rPr>
              <a:t>汇报者讨论：请设计能够回应已报告局限性的下一步实验。</a:t>
            </a:r>
          </a:p>
        </p:txBody>
      </p:sp>
      <p:sp>
        <p:nvSpPr>
          <p:cNvPr id="5" name="slide-10-bullets">
            <a:extLst>
              <a:ext uri="{FF2B5EF4-FFF2-40B4-BE49-F238E27FC236}">
                <a16:creationId xmlns:a16="http://schemas.microsoft.com/office/drawing/2014/main" id="{502DFB3F-5260-ECCB-69DC-7EEE65A470F6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已报告的局限性：</a:t>
            </a:r>
            <a:r>
              <a:rPr lang="en-US" altLang="zh-CN" sz="1600">
                <a:solidFill>
                  <a:srgbClr val="114B5F"/>
                </a:solidFill>
                <a:latin typeface="Aptos"/>
              </a:rPr>
              <a:t>The limited donor number and in-vitro model constrain generalization.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汇报者建议：所有验证性方案均应标注为讨论，而非作者结论。</a:t>
            </a:r>
          </a:p>
        </p:txBody>
      </p:sp>
      <p:sp>
        <p:nvSpPr>
          <p:cNvPr id="6" name="slide-10-evidence-card">
            <a:extLst>
              <a:ext uri="{FF2B5EF4-FFF2-40B4-BE49-F238E27FC236}">
                <a16:creationId xmlns:a16="http://schemas.microsoft.com/office/drawing/2014/main" id="{B888E233-B0EC-97F8-81D5-A539670CA522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10-evidence-label">
            <a:extLst>
              <a:ext uri="{FF2B5EF4-FFF2-40B4-BE49-F238E27FC236}">
                <a16:creationId xmlns:a16="http://schemas.microsoft.com/office/drawing/2014/main" id="{C6AF11AD-26F4-ED72-9EA8-6FDD09900AA3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10-evidence-value">
            <a:extLst>
              <a:ext uri="{FF2B5EF4-FFF2-40B4-BE49-F238E27FC236}">
                <a16:creationId xmlns:a16="http://schemas.microsoft.com/office/drawing/2014/main" id="{FAB76CF8-335B-11EA-6D80-89638AECAE2E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10-source">
            <a:extLst>
              <a:ext uri="{FF2B5EF4-FFF2-40B4-BE49-F238E27FC236}">
                <a16:creationId xmlns:a16="http://schemas.microsoft.com/office/drawing/2014/main" id="{46C87EB9-CA9E-8C03-0C4A-48EED0B0A910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</a:t>
            </a:r>
            <a:r>
              <a:rPr lang="zh-CN" altLang="en-US" sz="1200">
                <a:solidFill>
                  <a:srgbClr val="114B5F"/>
                </a:solidFill>
                <a:latin typeface="Aptos"/>
              </a:rPr>
              <a:t>汇报前请补充来源页码或图号。</a:t>
            </a:r>
          </a:p>
        </p:txBody>
      </p:sp>
      <p:sp>
        <p:nvSpPr>
          <p:cNvPr id="10" name="slide-10-footer">
            <a:extLst>
              <a:ext uri="{FF2B5EF4-FFF2-40B4-BE49-F238E27FC236}">
                <a16:creationId xmlns:a16="http://schemas.microsoft.com/office/drawing/2014/main" id="{279BD2C2-6D58-2510-6339-53DED57125ED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10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3643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11-title">
            <a:extLst>
              <a:ext uri="{FF2B5EF4-FFF2-40B4-BE49-F238E27FC236}">
                <a16:creationId xmlns:a16="http://schemas.microsoft.com/office/drawing/2014/main" id="{EAB6518E-C2B4-1A5F-7CA9-C0BBB19022D6}"/>
              </a:ext>
            </a:extLst>
          </p:cNvPr>
          <p:cNvSpPr txBox="1"/>
          <p:nvPr/>
        </p:nvSpPr>
        <p:spPr>
          <a:xfrm>
            <a:off x="609600" y="355600"/>
            <a:ext cx="10858500" cy="812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3600" b="1">
                <a:solidFill>
                  <a:srgbClr val="114B5F"/>
                </a:solidFill>
                <a:latin typeface="Aptos"/>
              </a:rPr>
              <a:t>核心结论</a:t>
            </a:r>
          </a:p>
        </p:txBody>
      </p:sp>
      <p:sp>
        <p:nvSpPr>
          <p:cNvPr id="3" name="slide-11-title-accent">
            <a:extLst>
              <a:ext uri="{FF2B5EF4-FFF2-40B4-BE49-F238E27FC236}">
                <a16:creationId xmlns:a16="http://schemas.microsoft.com/office/drawing/2014/main" id="{D32F0DB3-2A20-73C2-5C2E-D9BF5280B7C7}"/>
              </a:ext>
            </a:extLst>
          </p:cNvPr>
          <p:cNvSpPr/>
          <p:nvPr/>
        </p:nvSpPr>
        <p:spPr>
          <a:xfrm>
            <a:off x="609600" y="1168400"/>
            <a:ext cx="1117600" cy="63500"/>
          </a:xfrm>
          <a:prstGeom prst="rect">
            <a:avLst/>
          </a:prstGeom>
          <a:solidFill>
            <a:srgbClr val="F45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lide-11-takeaway">
            <a:extLst>
              <a:ext uri="{FF2B5EF4-FFF2-40B4-BE49-F238E27FC236}">
                <a16:creationId xmlns:a16="http://schemas.microsoft.com/office/drawing/2014/main" id="{65E079E5-A5B0-564B-3246-4EE692F44352}"/>
              </a:ext>
            </a:extLst>
          </p:cNvPr>
          <p:cNvSpPr txBox="1"/>
          <p:nvPr/>
        </p:nvSpPr>
        <p:spPr>
          <a:xfrm>
            <a:off x="660400" y="1562100"/>
            <a:ext cx="5143500" cy="2032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2400" b="1">
                <a:solidFill>
                  <a:srgbClr val="114B5F"/>
                </a:solidFill>
                <a:latin typeface="Aptos"/>
              </a:rPr>
              <a:t>The context-aware model significantly improved response prediction relative to the baseline model (Fig. 1b).</a:t>
            </a:r>
            <a:endParaRPr lang="zh-CN" altLang="en-US" sz="2400" b="1">
              <a:solidFill>
                <a:srgbClr val="114B5F"/>
              </a:solidFill>
              <a:latin typeface="Aptos"/>
            </a:endParaRPr>
          </a:p>
        </p:txBody>
      </p:sp>
      <p:sp>
        <p:nvSpPr>
          <p:cNvPr id="5" name="slide-11-bullets">
            <a:extLst>
              <a:ext uri="{FF2B5EF4-FFF2-40B4-BE49-F238E27FC236}">
                <a16:creationId xmlns:a16="http://schemas.microsoft.com/office/drawing/2014/main" id="{886DD025-771B-FBBF-A94B-09EA0E3BC35D}"/>
              </a:ext>
            </a:extLst>
          </p:cNvPr>
          <p:cNvSpPr txBox="1"/>
          <p:nvPr/>
        </p:nvSpPr>
        <p:spPr>
          <a:xfrm>
            <a:off x="698500" y="3873500"/>
            <a:ext cx="5016500" cy="2159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结论必须限定在原始研究的数据和方法边界内。</a:t>
            </a:r>
          </a:p>
          <a:p>
            <a:r>
              <a:rPr lang="en-US" altLang="zh-CN" sz="1600">
                <a:solidFill>
                  <a:srgbClr val="114B5F"/>
                </a:solidFill>
                <a:latin typeface="Aptos"/>
              </a:rPr>
              <a:t>-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请为 </a:t>
            </a:r>
            <a:r>
              <a:rPr lang="en-US" altLang="zh-CN" sz="1600">
                <a:solidFill>
                  <a:srgbClr val="114B5F"/>
                </a:solidFill>
                <a:latin typeface="Aptos"/>
              </a:rPr>
              <a:t>lab </a:t>
            </a:r>
            <a:r>
              <a:rPr lang="zh-CN" altLang="en-US" sz="1600">
                <a:solidFill>
                  <a:srgbClr val="114B5F"/>
                </a:solidFill>
                <a:latin typeface="Aptos"/>
              </a:rPr>
              <a:t>听众准备讨论问题。</a:t>
            </a:r>
          </a:p>
        </p:txBody>
      </p:sp>
      <p:sp>
        <p:nvSpPr>
          <p:cNvPr id="6" name="slide-11-evidence-card">
            <a:extLst>
              <a:ext uri="{FF2B5EF4-FFF2-40B4-BE49-F238E27FC236}">
                <a16:creationId xmlns:a16="http://schemas.microsoft.com/office/drawing/2014/main" id="{BA7FA8A0-EA51-2FC8-D4C7-8E44CAC905F0}"/>
              </a:ext>
            </a:extLst>
          </p:cNvPr>
          <p:cNvSpPr/>
          <p:nvPr/>
        </p:nvSpPr>
        <p:spPr>
          <a:xfrm>
            <a:off x="6477000" y="1714500"/>
            <a:ext cx="5143500" cy="149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14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lide-11-evidence-label">
            <a:extLst>
              <a:ext uri="{FF2B5EF4-FFF2-40B4-BE49-F238E27FC236}">
                <a16:creationId xmlns:a16="http://schemas.microsoft.com/office/drawing/2014/main" id="{7E3B7881-8311-D0D3-CE0D-275213AD7B3D}"/>
              </a:ext>
            </a:extLst>
          </p:cNvPr>
          <p:cNvSpPr txBox="1"/>
          <p:nvPr/>
        </p:nvSpPr>
        <p:spPr>
          <a:xfrm>
            <a:off x="6769100" y="1892300"/>
            <a:ext cx="4445000" cy="3048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400" b="1">
                <a:solidFill>
                  <a:srgbClr val="F45B69"/>
                </a:solidFill>
                <a:latin typeface="Aptos"/>
              </a:rPr>
              <a:t>证据 </a:t>
            </a:r>
            <a:r>
              <a:rPr lang="en-US" altLang="zh-CN" sz="1400" b="1">
                <a:solidFill>
                  <a:srgbClr val="F45B69"/>
                </a:solidFill>
                <a:latin typeface="Aptos"/>
              </a:rPr>
              <a:t>/ </a:t>
            </a:r>
            <a:r>
              <a:rPr lang="zh-CN" altLang="en-US" sz="1400" b="1">
                <a:solidFill>
                  <a:srgbClr val="F45B69"/>
                </a:solidFill>
                <a:latin typeface="Aptos"/>
              </a:rPr>
              <a:t>图示</a:t>
            </a:r>
          </a:p>
        </p:txBody>
      </p:sp>
      <p:sp>
        <p:nvSpPr>
          <p:cNvPr id="8" name="slide-11-evidence-value">
            <a:extLst>
              <a:ext uri="{FF2B5EF4-FFF2-40B4-BE49-F238E27FC236}">
                <a16:creationId xmlns:a16="http://schemas.microsoft.com/office/drawing/2014/main" id="{8C977CD8-1970-D13B-911C-BE93CF13BBD2}"/>
              </a:ext>
            </a:extLst>
          </p:cNvPr>
          <p:cNvSpPr txBox="1"/>
          <p:nvPr/>
        </p:nvSpPr>
        <p:spPr>
          <a:xfrm>
            <a:off x="6769100" y="2247900"/>
            <a:ext cx="4445000" cy="736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600">
                <a:solidFill>
                  <a:srgbClr val="114B5F"/>
                </a:solidFill>
                <a:latin typeface="Aptos"/>
              </a:rPr>
              <a:t>请在此添加流程图、方法示意图或讨论图。</a:t>
            </a:r>
          </a:p>
        </p:txBody>
      </p:sp>
      <p:sp>
        <p:nvSpPr>
          <p:cNvPr id="9" name="slide-11-source">
            <a:extLst>
              <a:ext uri="{FF2B5EF4-FFF2-40B4-BE49-F238E27FC236}">
                <a16:creationId xmlns:a16="http://schemas.microsoft.com/office/drawing/2014/main" id="{F48D16FB-3212-04DE-A706-E089D2AD9F31}"/>
              </a:ext>
            </a:extLst>
          </p:cNvPr>
          <p:cNvSpPr txBox="1"/>
          <p:nvPr/>
        </p:nvSpPr>
        <p:spPr>
          <a:xfrm>
            <a:off x="6502400" y="3619500"/>
            <a:ext cx="4953000" cy="635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zh-CN" altLang="en-US" sz="1200">
                <a:solidFill>
                  <a:srgbClr val="114B5F"/>
                </a:solidFill>
                <a:latin typeface="Aptos"/>
              </a:rPr>
              <a:t>证据</a:t>
            </a:r>
            <a:r>
              <a:rPr lang="en-US" altLang="zh-CN" sz="1200">
                <a:solidFill>
                  <a:srgbClr val="114B5F"/>
                </a:solidFill>
                <a:latin typeface="Aptos"/>
              </a:rPr>
              <a:t>: claim-01, claim-02, claim-03</a:t>
            </a:r>
            <a:endParaRPr lang="zh-CN" altLang="en-US" sz="1200">
              <a:solidFill>
                <a:srgbClr val="114B5F"/>
              </a:solidFill>
              <a:latin typeface="Aptos"/>
            </a:endParaRPr>
          </a:p>
        </p:txBody>
      </p:sp>
      <p:sp>
        <p:nvSpPr>
          <p:cNvPr id="10" name="slide-11-footer">
            <a:extLst>
              <a:ext uri="{FF2B5EF4-FFF2-40B4-BE49-F238E27FC236}">
                <a16:creationId xmlns:a16="http://schemas.microsoft.com/office/drawing/2014/main" id="{B1975EAA-7499-D0A0-8638-07F607512728}"/>
              </a:ext>
            </a:extLst>
          </p:cNvPr>
          <p:cNvSpPr txBox="1"/>
          <p:nvPr/>
        </p:nvSpPr>
        <p:spPr>
          <a:xfrm>
            <a:off x="609600" y="6388100"/>
            <a:ext cx="10922000" cy="228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altLang="zh-CN" sz="900">
                <a:solidFill>
                  <a:srgbClr val="114B5F"/>
                </a:solidFill>
                <a:latin typeface="Aptos"/>
              </a:rPr>
              <a:t>Adaptive perturbation mapping identifies a context-dependent immune signaling circuit | 11 / 11</a:t>
            </a:r>
            <a:endParaRPr lang="zh-CN" altLang="en-US" sz="900">
              <a:solidFill>
                <a:srgbClr val="114B5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67408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83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Aptos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jiu BAby</dc:creator>
  <cp:lastModifiedBy>jiu BAby</cp:lastModifiedBy>
  <cp:revision>1</cp:revision>
  <dcterms:created xsi:type="dcterms:W3CDTF">2026-08-06T10:04:35Z</dcterms:created>
  <dcterms:modified xsi:type="dcterms:W3CDTF">2026-08-06T10:04:35Z</dcterms:modified>
</cp:coreProperties>
</file>